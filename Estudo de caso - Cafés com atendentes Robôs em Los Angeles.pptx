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yres Santos" userId="ef8b4529c317adcf" providerId="LiveId" clId="{8C22927C-0FCF-4C1A-BD1F-1EE6AF541036}"/>
    <pc:docChg chg="modSld">
      <pc:chgData name="Bruno Ayres Santos" userId="ef8b4529c317adcf" providerId="LiveId" clId="{8C22927C-0FCF-4C1A-BD1F-1EE6AF541036}" dt="2026-07-16T18:08:32.719" v="43" actId="20577"/>
      <pc:docMkLst>
        <pc:docMk/>
      </pc:docMkLst>
      <pc:sldChg chg="modSp mod">
        <pc:chgData name="Bruno Ayres Santos" userId="ef8b4529c317adcf" providerId="LiveId" clId="{8C22927C-0FCF-4C1A-BD1F-1EE6AF541036}" dt="2026-07-16T18:08:32.719" v="43" actId="20577"/>
        <pc:sldMkLst>
          <pc:docMk/>
          <pc:sldMk cId="0" sldId="256"/>
        </pc:sldMkLst>
        <pc:spChg chg="mod">
          <ac:chgData name="Bruno Ayres Santos" userId="ef8b4529c317adcf" providerId="LiveId" clId="{8C22927C-0FCF-4C1A-BD1F-1EE6AF541036}" dt="2026-07-16T18:08:32.719" v="43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Tipos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2A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DB-4FCC-9119-5CBDE0E16B4D}"/>
              </c:ext>
            </c:extLst>
          </c:dPt>
          <c:dPt>
            <c:idx val="1"/>
            <c:bubble3D val="0"/>
            <c:spPr>
              <a:solidFill>
                <a:srgbClr val="F26F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DB-4FCC-9119-5CBDE0E16B4D}"/>
              </c:ext>
            </c:extLst>
          </c:dPt>
          <c:dPt>
            <c:idx val="2"/>
            <c:bubble3D val="0"/>
            <c:spPr>
              <a:solidFill>
                <a:srgbClr val="2E6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DB-4FCC-9119-5CBDE0E16B4D}"/>
              </c:ext>
            </c:extLst>
          </c:dPt>
          <c:dPt>
            <c:idx val="3"/>
            <c:bubble3D val="0"/>
            <c:spPr>
              <a:solidFill>
                <a:srgbClr val="F792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4DB-4FCC-9119-5CBDE0E16B4D}"/>
              </c:ext>
            </c:extLst>
          </c:dPt>
          <c:dPt>
            <c:idx val="4"/>
            <c:bubble3D val="0"/>
            <c:spPr>
              <a:solidFill>
                <a:srgbClr val="6B8C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DB-4FCC-9119-5CBDE0E16B4D}"/>
              </c:ext>
            </c:extLst>
          </c:dPt>
          <c:dPt>
            <c:idx val="5"/>
            <c:bubble3D val="0"/>
            <c:spPr>
              <a:solidFill>
                <a:srgbClr val="AAB8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4DB-4FCC-9119-5CBDE0E16B4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DB-4FCC-9119-5CBDE0E16B4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DB-4FCC-9119-5CBDE0E16B4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4DB-4FCC-9119-5CBDE0E16B4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4DB-4FCC-9119-5CBDE0E16B4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4DB-4FCC-9119-5CBDE0E16B4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4DB-4FCC-9119-5CBDE0E16B4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Restaurantes</c:v>
                </c:pt>
                <c:pt idx="1">
                  <c:v>Fast Food</c:v>
                </c:pt>
                <c:pt idx="2">
                  <c:v>Padarias</c:v>
                </c:pt>
                <c:pt idx="3">
                  <c:v>Cafés</c:v>
                </c:pt>
                <c:pt idx="4">
                  <c:v>Bares</c:v>
                </c:pt>
                <c:pt idx="5">
                  <c:v>Pizzarias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75.2</c:v>
                </c:pt>
                <c:pt idx="1">
                  <c:v>11</c:v>
                </c:pt>
                <c:pt idx="2">
                  <c:v>4.5</c:v>
                </c:pt>
                <c:pt idx="3">
                  <c:v>4</c:v>
                </c:pt>
                <c:pt idx="4">
                  <c:v>2.8</c:v>
                </c:pt>
                <c:pt idx="5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4DB-4FCC-9119-5CBDE0E16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3E4C5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2F4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Perfil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6F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EC-4EB7-8BB6-DDA286D845EF}"/>
              </c:ext>
            </c:extLst>
          </c:dPt>
          <c:dPt>
            <c:idx val="1"/>
            <c:bubble3D val="0"/>
            <c:spPr>
              <a:solidFill>
                <a:srgbClr val="0E2A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EC-4EB7-8BB6-DDA286D845E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DEC-4EB7-8BB6-DDA286D845E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DEC-4EB7-8BB6-DDA286D845E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Independentes</c:v>
                </c:pt>
                <c:pt idx="1">
                  <c:v>Redes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61.9</c:v>
                </c:pt>
                <c:pt idx="1">
                  <c:v>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EC-4EB7-8BB6-DDA286D845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E4C5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2F4F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Assentos</c:v>
                </c:pt>
              </c:strCache>
            </c:strRef>
          </c:tx>
          <c:spPr>
            <a:solidFill>
              <a:srgbClr val="F26F2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627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Padarias</c:v>
                </c:pt>
                <c:pt idx="1">
                  <c:v>Cafés</c:v>
                </c:pt>
                <c:pt idx="2">
                  <c:v>Pizzarias</c:v>
                </c:pt>
                <c:pt idx="3">
                  <c:v>Fast Food</c:v>
                </c:pt>
                <c:pt idx="4">
                  <c:v>Bares</c:v>
                </c:pt>
                <c:pt idx="5">
                  <c:v>Restaurantes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21.8</c:v>
                </c:pt>
                <c:pt idx="1">
                  <c:v>25</c:v>
                </c:pt>
                <c:pt idx="2">
                  <c:v>28.5</c:v>
                </c:pt>
                <c:pt idx="3">
                  <c:v>31.8</c:v>
                </c:pt>
                <c:pt idx="4">
                  <c:v>44.8</c:v>
                </c:pt>
                <c:pt idx="5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97-4E73-A893-78AD7A559C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3E4C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4F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Restaurantes</c:v>
                </c:pt>
              </c:strCache>
            </c:strRef>
          </c:tx>
          <c:spPr>
            <a:solidFill>
              <a:srgbClr val="0E2A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1627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 Figueroa St</c:v>
                </c:pt>
                <c:pt idx="1">
                  <c:v>W 6th St</c:v>
                </c:pt>
                <c:pt idx="2">
                  <c:v>W 3rd St</c:v>
                </c:pt>
                <c:pt idx="3">
                  <c:v>Hollywood Blvd</c:v>
                </c:pt>
                <c:pt idx="4">
                  <c:v>Santa Monica Blvd</c:v>
                </c:pt>
                <c:pt idx="5">
                  <c:v>W Olympic Blvd</c:v>
                </c:pt>
                <c:pt idx="6">
                  <c:v>S Western Ave</c:v>
                </c:pt>
                <c:pt idx="7">
                  <c:v>W Pico Blvd</c:v>
                </c:pt>
                <c:pt idx="8">
                  <c:v>W Sunset Blvd</c:v>
                </c:pt>
                <c:pt idx="9">
                  <c:v>Wilshire Blvd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156</c:v>
                </c:pt>
                <c:pt idx="1">
                  <c:v>157</c:v>
                </c:pt>
                <c:pt idx="2">
                  <c:v>171</c:v>
                </c:pt>
                <c:pt idx="3">
                  <c:v>184</c:v>
                </c:pt>
                <c:pt idx="4">
                  <c:v>187</c:v>
                </c:pt>
                <c:pt idx="5">
                  <c:v>197</c:v>
                </c:pt>
                <c:pt idx="6">
                  <c:v>201</c:v>
                </c:pt>
                <c:pt idx="7">
                  <c:v>251</c:v>
                </c:pt>
                <c:pt idx="8">
                  <c:v>252</c:v>
                </c:pt>
                <c:pt idx="9">
                  <c:v>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58-454B-9DD7-F09AF057F5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4F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Ruas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6F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A8-43CC-951E-20109817FD4A}"/>
              </c:ext>
            </c:extLst>
          </c:dPt>
          <c:dPt>
            <c:idx val="1"/>
            <c:bubble3D val="0"/>
            <c:spPr>
              <a:solidFill>
                <a:srgbClr val="0E2A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A8-43CC-951E-20109817FD4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A8-43CC-951E-20109817FD4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A8-43CC-951E-20109817FD4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Ruas com 1 restaurante</c:v>
                </c:pt>
                <c:pt idx="1">
                  <c:v>Ruas com 2+ restaurantes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690</c:v>
                </c:pt>
                <c:pt idx="1">
                  <c:v>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A8-43CC-951E-20109817FD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50">
              <a:solidFill>
                <a:srgbClr val="3E4C5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2F4F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de assentos</c:v>
                </c:pt>
              </c:strCache>
            </c:strRef>
          </c:tx>
          <c:spPr>
            <a:solidFill>
              <a:srgbClr val="0E2A4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AF-460A-9AAB-8F74B5BADEE9}"/>
              </c:ext>
            </c:extLst>
          </c:dPt>
          <c:dPt>
            <c:idx val="1"/>
            <c:invertIfNegative val="0"/>
            <c:bubble3D val="0"/>
            <c:spPr>
              <a:solidFill>
                <a:srgbClr val="7C8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AF-460A-9AAB-8F74B5BADEE9}"/>
              </c:ext>
            </c:extLst>
          </c:dPt>
          <c:dPt>
            <c:idx val="2"/>
            <c:invertIfNegative val="0"/>
            <c:bubble3D val="0"/>
            <c:spPr>
              <a:solidFill>
                <a:srgbClr val="F26F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AF-460A-9AAB-8F74B5BADE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627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Santa Monica Blvd</c:v>
                </c:pt>
                <c:pt idx="1">
                  <c:v>Média geral</c:v>
                </c:pt>
                <c:pt idx="2">
                  <c:v>Hollywood Blvd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38.479999999999997</c:v>
                </c:pt>
                <c:pt idx="1">
                  <c:v>49.21</c:v>
                </c:pt>
                <c:pt idx="2">
                  <c:v>60.55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AF-460A-9AAB-8F74B5BADE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3E4C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4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para investidores. Apresente a proposta: uma cafeteria inovadora com garçons robôs em Los Angeles. Enfatize que toda a análise é baseada em dados reais de 9.651 restaurantes da cidade. Tom confiante e orientado a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em 30 segundos. Objetivo, fonte e método à esquerda; os quatro números que sustentam a tese à direita. Destaque 75,2% (mercado tradicional = espaço para inovar) e 61,9% (independentes = oportunidade para uma rede estruturada).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mercado é dominado por restaurantes tradicionais (75,2%). Cafés representam apenas 4%. A leitura estratégica: pouca inovação = espaço para um conceito diferenciado se destacar.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38,1% pertencem a redes. Isso significa concorrência fragmentada e sem grandes marcas dominando — terreno fértil para escalar um conceito replicável de café com robôs.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Padarias já são 100% redes; cafés vêm logo atrás com 61,1%. Isso valida o formato café para operar em escala. Restaurantes, apesar do volume (2.292), têm penetração menor (31,6%) — o híbrido restaurante+café combina volume com penetração comprovada.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Restaurantes lideram em capacidade com 48 assentos, seguidos por bares (44,8). Cafés puros são menores (25). Como vamos operar um híbrido restaurante+café, usamos a faixa de 40-50 assentos como referência de dimensionamento.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Wilshire Blvd lidera com 285 restaurantes, seguido de perto por Sunset (252) e Pico (251). Esses corredores concentram grande fluxo e público diversificado — candidatos naturais para a primeira unidade.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mercado é muito pulverizado: 690 das 1.102 ruas (62,6%) têm apenas um restaurante. A concentração real está nos poucos grandes corredores. Conclusão: localização importa muito — estar num corredor principal é uma vantagem competitiva.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geral de assentos por corredor é 49,21. Hollywood Blvd, turístico, tem os maiores (60,55); Santa Monica, mais residencial, os menores (38,48). Isso ajuda a calibrar o tamanho da unidade conforme o perfil da rua escolhida.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há fórmula única de expansão. As redes existem em todos os formatos — de muitas lojas pequenas (fast food) a poucas grandes (restaurantes tradicionais). Como a correlação é praticamente zero, temos liberdade para desenhar o modelo que melhor sirva ao conceito de café com robôs.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recomendações concretas: (1) híbrido restaurante+café, (2) 40-50 assentos, (3) Wilshire ou Sunset, (4) começar pequeno e validar antes de escalar, (5) os robôs como diferencial e atração. Cada recomendação nasce direto dos dados apresentados.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em quatro fases ao longo de 18 meses: (1) planejamento e aquisição dos robôs, (2) obras e treinamento, (3) lançamento no mês 7, (4) avaliação e expansão. A lógica é validar o modelo em campo antes de comprometer capital com a segunda unidade.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três pilares de investimento — oportunidade de mercado, diferencial competitivo e viabilidade financeira. Reforce que tudo se apoia em dados reais e num modelo escalável. Encerre convidando à conversa sobre os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233172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0292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35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bô garçom branco e laranja servindo café em uma cafeteria moderna em Los Angeles"/>
          <p:cNvPicPr>
            <a:picLocks noChangeAspect="1"/>
          </p:cNvPicPr>
          <p:nvPr/>
        </p:nvPicPr>
        <p:blipFill>
          <a:blip r:embed="rId3"/>
          <a:srcRect l="16298" r="16298"/>
          <a:stretch/>
        </p:blipFill>
        <p:spPr>
          <a:xfrm>
            <a:off x="5257800" y="0"/>
            <a:ext cx="6933895" cy="6858000"/>
          </a:xfrm>
          <a:prstGeom prst="rect">
            <a:avLst/>
          </a:prstGeom>
        </p:spPr>
      </p:pic>
      <p:sp>
        <p:nvSpPr>
          <p:cNvPr id="3" name="titl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792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DE MERCADO · LOS ANGELES</a:t>
            </a:r>
            <a:endParaRPr lang="en-US" sz="125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23317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Café com Garçons Robôs em Los Angeles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e Insights para Investidores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3232" y="5257800"/>
            <a:ext cx="2011680" cy="0"/>
          </a:xfrm>
          <a:prstGeom prst="line">
            <a:avLst/>
          </a:prstGeom>
          <a:noFill/>
          <a:ln w="25400">
            <a:solidFill>
              <a:srgbClr val="F26F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5440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 Investidores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Base: 9.651 restaurantes de Los Angeles </a:t>
            </a:r>
            <a:r>
              <a:rPr lang="en-US" sz="125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California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 EXECUTIVO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 Executivo</a:t>
            </a:r>
            <a:endParaRPr lang="en-US" sz="30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6304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63040"/>
            <a:ext cx="82296" cy="13716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1609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DO PROJETO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19385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uma cafeteria inovadora com garçons robôs em Los Angeles.</a:t>
            </a:r>
            <a:endParaRPr lang="en-US" sz="13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035808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035808"/>
            <a:ext cx="82296" cy="13716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FONTE DE DADOS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" y="35112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abertos de restaurantes em LA — 9.651 registros analisados.</a:t>
            </a:r>
            <a:endParaRPr lang="en-US" sz="13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608576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608576"/>
            <a:ext cx="82296" cy="13716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4754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5528" y="508406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de dados com Python (Pandas, Matplotlib, Seaborn).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Principais Insights</a:t>
            </a:r>
            <a:endParaRPr lang="en-US" sz="170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920240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920240"/>
            <a:ext cx="82296" cy="169164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30368" y="2029968"/>
            <a:ext cx="29260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75,2%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248656" y="2850642"/>
            <a:ext cx="2862072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tradicionais dominam o mercado de LA</a:t>
            </a:r>
            <a:endParaRPr lang="en-US" sz="125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352" y="1920240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352" y="1920240"/>
            <a:ext cx="82296" cy="169164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32520" y="2029968"/>
            <a:ext cx="29260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61,9%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750808" y="2850642"/>
            <a:ext cx="2862072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Estabelecimentos independentes — espaço para redes</a:t>
            </a:r>
            <a:endParaRPr lang="en-US" sz="125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867912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867912"/>
            <a:ext cx="82296" cy="169164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30368" y="3977640"/>
            <a:ext cx="29260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5248656" y="4798314"/>
            <a:ext cx="2862072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assentos por restaurante (referência do projeto)</a:t>
            </a:r>
            <a:endParaRPr lang="en-US" sz="1250" dirty="0"/>
          </a:p>
        </p:txBody>
      </p:sp>
      <p:sp>
        <p:nvSpPr>
          <p:cNvPr id="3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352" y="3867912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352" y="3867912"/>
            <a:ext cx="82296" cy="169164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732520" y="3977640"/>
            <a:ext cx="29260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285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750808" y="4798314"/>
            <a:ext cx="2862072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na Wilshire Blvd, o principal corredor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COMPOSIÇÃO DO MERCADO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Distribuição dos Tipos de Estabelecimentos</a:t>
            </a:r>
            <a:endParaRPr lang="en-US" sz="3000" dirty="0"/>
          </a:p>
        </p:txBody>
      </p:sp>
      <p:graphicFrame>
        <p:nvGraphicFramePr>
          <p:cNvPr id="5" name="Gráfico de pizza dos tipos de estabelecimento" descr="Pizza: Restaurantes 75,2%, Fast Food 11%, Padarias 4,5%, Cafés 4%, Bares 2,8%, Pizzarias 2,5%"/>
          <p:cNvGraphicFramePr/>
          <p:nvPr/>
        </p:nvGraphicFramePr>
        <p:xfrm>
          <a:off x="457200" y="1463040"/>
          <a:ext cx="603504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2148840"/>
            <a:ext cx="4800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2148840"/>
            <a:ext cx="82296" cy="265176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86600" y="2377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75,2%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104888" y="3246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mercado são restaurantes tradicionais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04888" y="370332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fortemente concentrado em restaurantes tradicionais — sobra espaço para nichos inovadores como um café com garçons robôs.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 VS. INDEPENDENTES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Oportunidade para Redes Inovadoras</a:t>
            </a:r>
            <a:endParaRPr lang="en-US" sz="3000" dirty="0"/>
          </a:p>
        </p:txBody>
      </p:sp>
      <p:graphicFrame>
        <p:nvGraphicFramePr>
          <p:cNvPr id="5" name="Rosca redes versus independentes" descr="Rosca: Independentes 61,9%, Redes 38,1%"/>
          <p:cNvGraphicFramePr/>
          <p:nvPr/>
        </p:nvGraphicFramePr>
        <p:xfrm>
          <a:off x="640080" y="1554480"/>
          <a:ext cx="5486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9659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61,9%</a:t>
            </a:r>
            <a:endParaRPr lang="en-US" sz="60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estabelecimentos são independentes</a:t>
            </a:r>
            <a:endParaRPr lang="en-US" sz="6000" dirty="0"/>
          </a:p>
        </p:txBody>
      </p:sp>
      <p:sp>
        <p:nvSpPr>
          <p:cNvPr id="7" name="highl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3977640"/>
            <a:ext cx="4892040" cy="1737360"/>
          </a:xfrm>
          <a:prstGeom prst="rect">
            <a:avLst/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49440" y="41605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opera de forma independente — indicando um mercado pouco consolidado e uma oportunidade clara para uma rede bem estruturada e escalável.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ESTABELECIMENTOS EM REDES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as Redes Já Atuam?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6766560" cy="396849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Tipo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Quantidade em Redes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% de Redes no Tipo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7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Padarias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26F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26F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7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Food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7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Pizzarias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7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7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3E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5240" y="1737360"/>
            <a:ext cx="3977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5240" y="1737360"/>
            <a:ext cx="3977640" cy="109728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0" y="2057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61,1%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7882128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cafés já operam em redes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82128" y="352044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validado! Cafés têm a segunda maior penetração em redes, atrás apenas das padarias. Há demanda comprovada para o formato operar em escala com múltiplas unidades.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CAPACIDADE DOS ESTABELECIMENTOS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Média de Assentos por Tipo</a:t>
            </a:r>
            <a:endParaRPr lang="en-US" sz="3000" dirty="0"/>
          </a:p>
        </p:txBody>
      </p:sp>
      <p:graphicFrame>
        <p:nvGraphicFramePr>
          <p:cNvPr id="5" name="Barras de média de assentos por tipo" descr="Assentos: Restaurantes 48, Bares 44,8, Fast Food 31,8, Pizzarias 28,5, Cafés 25, Padarias 21,8"/>
          <p:cNvGraphicFramePr/>
          <p:nvPr/>
        </p:nvGraphicFramePr>
        <p:xfrm>
          <a:off x="457200" y="1463040"/>
          <a:ext cx="76809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highl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8200" y="2286000"/>
            <a:ext cx="3200400" cy="2377440"/>
          </a:xfrm>
          <a:prstGeom prst="rect">
            <a:avLst/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0" y="25146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792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</a:t>
            </a:r>
            <a:endParaRPr lang="en-US" sz="5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assentos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686800" y="3840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têm a maior capacidade — a referência para dimensionar o projeto.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PRINCIPAIS CORREDORES GASTRONÔMICOS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Ruas com Mais Restaurantes</a:t>
            </a:r>
            <a:endParaRPr lang="en-US" sz="3000" dirty="0"/>
          </a:p>
        </p:txBody>
      </p:sp>
      <p:graphicFrame>
        <p:nvGraphicFramePr>
          <p:cNvPr id="5" name="Barras horizontais das 10 ruas com mais restaurantes" descr="Top ruas: Wilshire 285, Sunset 252, Pico 251, Western 201, Olympic 197"/>
          <p:cNvGraphicFramePr/>
          <p:nvPr/>
        </p:nvGraphicFramePr>
        <p:xfrm>
          <a:off x="457200" y="1417320"/>
          <a:ext cx="777240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highl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9640" y="2194560"/>
            <a:ext cx="3108960" cy="2560320"/>
          </a:xfrm>
          <a:prstGeom prst="rect">
            <a:avLst/>
          </a:prstGeom>
          <a:solidFill>
            <a:srgbClr val="F26F21"/>
          </a:solidFill>
          <a:ln/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778240" y="237744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Wilshire Blvd</a:t>
            </a:r>
            <a:endParaRPr lang="en-US" sz="2000" dirty="0"/>
          </a:p>
          <a:p>
            <a:pPr marL="0" indent="0">
              <a:buNone/>
            </a:pPr>
            <a:r>
              <a:rPr lang="en-US" sz="5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285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— o corredor #1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PULVERIZAÇÃO DO MERCADO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Distribuição de Restaurantes por Rua</a:t>
            </a:r>
            <a:endParaRPr lang="en-US" sz="3000" dirty="0"/>
          </a:p>
        </p:txBody>
      </p:sp>
      <p:graphicFrame>
        <p:nvGraphicFramePr>
          <p:cNvPr id="5" name="Rosca da distribuição de ruas" descr="690 ruas com 1 restaurante, 412 ruas com 2 ou mais, de 1.102 no total"/>
          <p:cNvGraphicFramePr/>
          <p:nvPr/>
        </p:nvGraphicFramePr>
        <p:xfrm>
          <a:off x="548640" y="1600200"/>
          <a:ext cx="53035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1737360"/>
            <a:ext cx="5212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1737360"/>
            <a:ext cx="82296" cy="160020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01968" y="1847088"/>
            <a:ext cx="48920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620256" y="2617470"/>
            <a:ext cx="482803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ruas têm apenas 1 restaurante — 62,6% do total</a:t>
            </a:r>
            <a:endParaRPr lang="en-US" sz="12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3474720"/>
            <a:ext cx="5212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3474720"/>
            <a:ext cx="82296" cy="160020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01968" y="3584448"/>
            <a:ext cx="48920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1.102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620256" y="4354830"/>
            <a:ext cx="482803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ruas de LA possuem ao menos um restaurante</a:t>
            </a:r>
            <a:endParaRPr lang="en-US" sz="1250" dirty="0"/>
          </a:p>
        </p:txBody>
      </p:sp>
      <p:sp>
        <p:nvSpPr>
          <p:cNvPr id="14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5212080"/>
            <a:ext cx="5212080" cy="96012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29400" y="53035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pulverizado: a maioria das ruas tem um único restaurante, mas os grandes corredores concentram o volume — onde vale a pena estar.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CAPACIDADE NOS PRINCIPAIS CORREDORES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Tendências de Assentos nos Corredores</a:t>
            </a:r>
            <a:endParaRPr lang="en-US" sz="3000" dirty="0"/>
          </a:p>
        </p:txBody>
      </p:sp>
      <p:graphicFrame>
        <p:nvGraphicFramePr>
          <p:cNvPr id="5" name="Barras de média de assentos por corredor" descr="Média de assentos: Hollywood 60,55, geral 49,21, Santa Monica 38,48"/>
          <p:cNvGraphicFramePr/>
          <p:nvPr/>
        </p:nvGraphicFramePr>
        <p:xfrm>
          <a:off x="502920" y="1600200"/>
          <a:ext cx="6766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17830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1783080"/>
            <a:ext cx="82296" cy="1371600"/>
          </a:xfrm>
          <a:prstGeom prst="rect">
            <a:avLst/>
          </a:prstGeom>
          <a:solidFill>
            <a:srgbClr val="7C8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18120" y="1892808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49,21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464040" y="189280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 de assentos nos corredores</a:t>
            </a:r>
            <a:endParaRPr lang="en-US" sz="12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32918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3291840"/>
            <a:ext cx="82296" cy="137160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18120" y="3401568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60,55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9464040" y="340156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média — Hollywood Blvd (turístico)</a:t>
            </a:r>
            <a:endParaRPr lang="en-US" sz="12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48006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4800600"/>
            <a:ext cx="82296" cy="13716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818120" y="4910328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38,48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9464040" y="491032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média — Santa Monica Blvd (residencial)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263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Ruas turísticas como Hollywood têm restaurantes maiores; ruas residenciais como Santa Monica têm estabelecimentos menores.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ESTRATÉGIAS DE EXPANSÃO DE REDES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das Redes</a:t>
            </a:r>
            <a:endParaRPr lang="en-US" sz="3000" dirty="0"/>
          </a:p>
        </p:txBody>
      </p:sp>
      <p:sp>
        <p:nvSpPr>
          <p:cNvPr id="5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63040"/>
            <a:ext cx="11064240" cy="914400"/>
          </a:xfrm>
          <a:prstGeom prst="rect">
            <a:avLst/>
          </a:prstGeom>
          <a:solidFill>
            <a:srgbClr val="0E2A47"/>
          </a:solidFill>
          <a:ln/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nº de unidades × média de assentos ≈ 0.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padrão único — a estratégia deve seguir o modelo de negócio.</a:t>
            </a:r>
            <a:endParaRPr lang="en-US" sz="150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69748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697480"/>
            <a:ext cx="5394960" cy="109728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3246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Muitas unidades pequenas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1248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 </a:t>
            </a: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food</a:t>
            </a:r>
            <a:endParaRPr lang="en-US" sz="140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269748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2697480"/>
            <a:ext cx="5394960" cy="109728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528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10528" y="3246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Poucas unidades grandes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10528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 </a:t>
            </a:r>
            <a:r>
              <a:rPr lang="en-US" sz="1400" b="1" dirty="0">
                <a:solidFill>
                  <a:srgbClr val="F26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tradicionais</a:t>
            </a:r>
            <a:endParaRPr lang="en-US" sz="140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70916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709160"/>
            <a:ext cx="5394960" cy="109728"/>
          </a:xfrm>
          <a:prstGeom prst="rect">
            <a:avLst/>
          </a:prstGeom>
          <a:solidFill>
            <a:srgbClr val="2E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" y="5257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Muitas unidades grandes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1248" y="5852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 </a:t>
            </a:r>
            <a:r>
              <a:rPr lang="en-US" sz="14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buffet</a:t>
            </a:r>
            <a:endParaRPr lang="en-US" sz="140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470916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4709160"/>
            <a:ext cx="5394960" cy="109728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10528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5257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Poucas unidades pequenas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10528" y="5852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 </a:t>
            </a:r>
            <a:r>
              <a:rPr lang="en-US" sz="1400" b="1" dirty="0">
                <a:solidFill>
                  <a:srgbClr val="F26F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boutique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 DE 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Recomendações Estratégicas</a:t>
            </a:r>
            <a:endParaRPr lang="en-US" sz="3000" dirty="0"/>
          </a:p>
        </p:txBody>
      </p:sp>
      <p:pic>
        <p:nvPicPr>
          <p:cNvPr id="5" name="Image 0" descr="Robô garçom sorridente carregando uma bandeja de cafés especiais"/>
          <p:cNvPicPr>
            <a:picLocks noChangeAspect="1"/>
          </p:cNvPicPr>
          <p:nvPr/>
        </p:nvPicPr>
        <p:blipFill>
          <a:blip r:embed="rId3"/>
          <a:srcRect l="27160" r="27160"/>
          <a:stretch/>
        </p:blipFill>
        <p:spPr>
          <a:xfrm>
            <a:off x="8275320" y="1463040"/>
            <a:ext cx="3383280" cy="4937760"/>
          </a:xfrm>
          <a:prstGeom prst="rect">
            <a:avLst/>
          </a:prstGeom>
        </p:spPr>
      </p:pic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7406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868680" cy="9144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481328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45920" y="159105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de estabelecimento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45920" y="1920240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híbrido restaurante + café — maior mercado (75,2%) e boa penetração em redes (61,1%).</a:t>
            </a:r>
            <a:endParaRPr lang="en-US" sz="125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505456"/>
            <a:ext cx="7406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505456"/>
            <a:ext cx="868680" cy="9144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6928" y="2505456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1645920" y="2615184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Capacidade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645920" y="294436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 assentos, alinhado à média do mercado de restaurantes.</a:t>
            </a:r>
            <a:endParaRPr lang="en-US" sz="125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529584"/>
            <a:ext cx="7406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529584"/>
            <a:ext cx="868680" cy="9144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" y="3529584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1645920" y="3639312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Localização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645920" y="3968496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Wilshire Blvd ou Sunset Blvd — alta concentração e público diversificado.</a:t>
            </a:r>
            <a:endParaRPr lang="en-US" sz="1250" dirty="0"/>
          </a:p>
        </p:txBody>
      </p:sp>
      <p:sp>
        <p:nvSpPr>
          <p:cNvPr id="2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553712"/>
            <a:ext cx="7406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553712"/>
            <a:ext cx="868680" cy="9144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66928" y="4553712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1645920" y="466344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 de expansão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1645920" y="4992624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com 1–2 unidades para testar o modelo e expandir após validação.</a:t>
            </a:r>
            <a:endParaRPr lang="en-US" sz="125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5577840"/>
            <a:ext cx="7406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5577840"/>
            <a:ext cx="868680" cy="9144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66928" y="557784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400" dirty="0"/>
          </a:p>
        </p:txBody>
      </p:sp>
      <p:sp>
        <p:nvSpPr>
          <p:cNvPr id="29" name="Text 26"/>
          <p:cNvSpPr/>
          <p:nvPr/>
        </p:nvSpPr>
        <p:spPr>
          <a:xfrm>
            <a:off x="1645920" y="5687568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Diferencial competitivo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1645920" y="6016752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Garçons robôs como atração turística e inovação num mercado tradicional.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F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DO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92840" y="6172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5" name="ph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96596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phas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965960"/>
            <a:ext cx="2697480" cy="105156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1122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1–3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320040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ponto (Wilshire / Sunset)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arquitetônico (40–50 assentos)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dos robôs</a:t>
            </a:r>
            <a:endParaRPr lang="en-US" sz="1200" dirty="0"/>
          </a:p>
        </p:txBody>
      </p:sp>
      <p:sp>
        <p:nvSpPr>
          <p:cNvPr id="1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2377440"/>
            <a:ext cx="310896" cy="310896"/>
          </a:xfrm>
          <a:prstGeom prst="ellipse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ph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1296" y="196596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phas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1296" y="1965960"/>
            <a:ext cx="2697480" cy="105156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94176" y="21122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94176" y="2532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4–6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9896" y="320040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e montagem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da equipe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operacionais</a:t>
            </a:r>
            <a:endParaRPr lang="en-US" sz="1200" dirty="0"/>
          </a:p>
        </p:txBody>
      </p:sp>
      <p:sp>
        <p:nvSpPr>
          <p:cNvPr id="16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0488" y="2377440"/>
            <a:ext cx="310896" cy="310896"/>
          </a:xfrm>
          <a:prstGeom prst="ellipse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ph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196596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phas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1965960"/>
            <a:ext cx="2697480" cy="105156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38544" y="21122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38544" y="2532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84264" y="320040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da primeira unidade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feedback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do modelo</a:t>
            </a:r>
            <a:endParaRPr lang="en-US" sz="1200" dirty="0"/>
          </a:p>
        </p:txBody>
      </p:sp>
      <p:sp>
        <p:nvSpPr>
          <p:cNvPr id="2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34856" y="2377440"/>
            <a:ext cx="310896" cy="310896"/>
          </a:xfrm>
          <a:prstGeom prst="ellipse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h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00032" y="196596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phas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00032" y="1965960"/>
            <a:ext cx="2697480" cy="105156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82912" y="21122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82912" y="2532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12–18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28632" y="320040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dos resultados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expansão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da segunda unidade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meses do ponto comercial à decisão de expansão — com validação real antes de escalar.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chada de cafeteria moderna em um bulevar de Los Angeles ao anoitecer com um robô visível pela vitrine"/>
          <p:cNvPicPr>
            <a:picLocks noChangeAspect="1"/>
          </p:cNvPicPr>
          <p:nvPr/>
        </p:nvPicPr>
        <p:blipFill>
          <a:blip r:embed="rId3"/>
          <a:srcRect t="33968" b="33968"/>
          <a:stretch/>
        </p:blipFill>
        <p:spPr>
          <a:xfrm>
            <a:off x="0" y="4251960"/>
            <a:ext cx="12191695" cy="2606040"/>
          </a:xfrm>
          <a:prstGeom prst="rect">
            <a:avLst/>
          </a:prstGeom>
        </p:spPr>
      </p:pic>
      <p:sp>
        <p:nvSpPr>
          <p:cNvPr id="3" name="imag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0E2A47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" cy="4251960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02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Investir Neste Projeto?</a:t>
            </a:r>
            <a:endParaRPr lang="en-US" sz="3000" dirty="0"/>
          </a:p>
        </p:txBody>
      </p:sp>
      <p:sp>
        <p:nvSpPr>
          <p:cNvPr id="6" name="pilla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600200"/>
            <a:ext cx="3657600" cy="2423160"/>
          </a:xfrm>
          <a:prstGeom prst="rect">
            <a:avLst/>
          </a:prstGeom>
          <a:solidFill>
            <a:srgbClr val="081B30"/>
          </a:solidFill>
          <a:ln w="12700">
            <a:solidFill>
              <a:srgbClr val="1D3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600200"/>
            <a:ext cx="3657600" cy="109728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1856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792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Oportunidade de Mercado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1248" y="25603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9.651 estabelecimentos — mercado aquecido em LA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75,2% tradicionais: espaço para inovar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61,9% independentes: abertura para redes</a:t>
            </a:r>
            <a:endParaRPr lang="en-US" sz="1250" dirty="0"/>
          </a:p>
        </p:txBody>
      </p:sp>
      <p:sp>
        <p:nvSpPr>
          <p:cNvPr id="10" name="pilla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8848" y="1600200"/>
            <a:ext cx="3657600" cy="2423160"/>
          </a:xfrm>
          <a:prstGeom prst="rect">
            <a:avLst/>
          </a:prstGeom>
          <a:solidFill>
            <a:srgbClr val="081B30"/>
          </a:solidFill>
          <a:ln w="12700">
            <a:solidFill>
              <a:srgbClr val="1D3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8848" y="1600200"/>
            <a:ext cx="3657600" cy="109728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0" y="1856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792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Diferencial Competitivo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773168" y="25603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Garçons robôs como atração turística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inovadora num mercado tradicional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escalável para outras cidades</a:t>
            </a:r>
            <a:endParaRPr lang="en-US" sz="1250" dirty="0"/>
          </a:p>
        </p:txBody>
      </p:sp>
      <p:sp>
        <p:nvSpPr>
          <p:cNvPr id="14" name="pilla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30768" y="1600200"/>
            <a:ext cx="3657600" cy="2423160"/>
          </a:xfrm>
          <a:prstGeom prst="rect">
            <a:avLst/>
          </a:prstGeom>
          <a:solidFill>
            <a:srgbClr val="081B30"/>
          </a:solidFill>
          <a:ln w="12700">
            <a:solidFill>
              <a:srgbClr val="1D3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30768" y="1600200"/>
            <a:ext cx="3657600" cy="109728"/>
          </a:xfrm>
          <a:prstGeom prst="rect">
            <a:avLst/>
          </a:prstGeom>
          <a:solidFill>
            <a:srgbClr val="F26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0" y="1856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792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Viabilidade Financeira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705088" y="25603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40–50 assentos (média do mercado)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em corredores consolidados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gradual e sustentável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66928" y="4343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conceito inovador, sustentado por dados, pronto para escalar.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1324</Words>
  <Application>Microsoft Office PowerPoint</Application>
  <PresentationFormat>Widescreen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Café com Garçons Robôs em Los Angeles</vt:lpstr>
      <vt:lpstr>Resumo Executivo</vt:lpstr>
      <vt:lpstr>Distribuição dos Tipos de Estabelecimentos</vt:lpstr>
      <vt:lpstr>Oportunidade para Redes Inovadoras</vt:lpstr>
      <vt:lpstr>Onde as Redes Já Atuam?</vt:lpstr>
      <vt:lpstr>Média de Assentos por Tipo</vt:lpstr>
      <vt:lpstr>Top 10 Ruas com Mais Restaurantes</vt:lpstr>
      <vt:lpstr>Distribuição de Restaurantes por Rua</vt:lpstr>
      <vt:lpstr>Tendências de Assentos nos Corredores</vt:lpstr>
      <vt:lpstr>Características das Redes</vt:lpstr>
      <vt:lpstr>Recomendações Estratégicas</vt:lpstr>
      <vt:lpstr>Próximos Passos</vt:lpstr>
      <vt:lpstr>Por que Investir Neste Projeto?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Ayres Santos</dc:creator>
  <cp:lastModifiedBy>Bruno Ayres Santos</cp:lastModifiedBy>
  <cp:revision>2</cp:revision>
  <dcterms:created xsi:type="dcterms:W3CDTF">2026-07-13T13:05:52Z</dcterms:created>
  <dcterms:modified xsi:type="dcterms:W3CDTF">2026-07-16T18:08:36Z</dcterms:modified>
</cp:coreProperties>
</file>